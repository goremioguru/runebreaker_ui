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548640"/>
            <a:ext cx="8229600" cy="640080"/>
          </a:xfrm>
          <a:prstGeom prst="rect">
            <a:avLst/>
          </a:prstGeom>
          <a:noFill/>
          <a:ln/>
        </p:spPr>
        <p:txBody>
          <a:bodyPr wrap="square" rtlCol="0" anchor="ctr"/>
          <a:lstStyle/>
          <a:p>
            <a:pPr indent="0" marL="0">
              <a:buNone/>
            </a:pPr>
            <a:r>
              <a:rPr lang="en-US" sz="2600" b="1" dirty="0">
                <a:solidFill>
                  <a:srgbClr val="F59E0B"/>
                </a:solidFill>
                <a:latin typeface="Georgia" pitchFamily="34" charset="0"/>
                <a:ea typeface="Georgia" pitchFamily="34" charset="-122"/>
                <a:cs typeface="Georgia" pitchFamily="34" charset="-120"/>
              </a:rPr>
              <a:t>Runebreaker: The Active-Time Bestiary UI</a:t>
            </a:r>
            <a:endParaRPr lang="en-US" sz="2600" dirty="0"/>
          </a:p>
        </p:txBody>
      </p:sp>
      <p:sp>
        <p:nvSpPr>
          <p:cNvPr id="3" name="Text 1"/>
          <p:cNvSpPr/>
          <p:nvPr/>
        </p:nvSpPr>
        <p:spPr>
          <a:xfrm>
            <a:off x="457200" y="1097280"/>
            <a:ext cx="8229600" cy="274320"/>
          </a:xfrm>
          <a:prstGeom prst="rect">
            <a:avLst/>
          </a:prstGeom>
          <a:noFill/>
          <a:ln/>
        </p:spPr>
        <p:txBody>
          <a:bodyPr wrap="square" rtlCol="0" anchor="ctr"/>
          <a:lstStyle/>
          <a:p>
            <a:pPr indent="0" marL="0">
              <a:buNone/>
            </a:pPr>
            <a:r>
              <a:rPr lang="en-US" sz="1300" i="1" dirty="0">
                <a:solidFill>
                  <a:srgbClr val="D97706"/>
                </a:solidFill>
                <a:latin typeface="Arial" pitchFamily="34" charset="0"/>
                <a:ea typeface="Arial" pitchFamily="34" charset="-122"/>
                <a:cs typeface="Arial" pitchFamily="34" charset="-120"/>
              </a:rPr>
              <a:t>Simulated Real-Time Combat in State-Driven Interfaces</a:t>
            </a:r>
            <a:endParaRPr lang="en-US" sz="1300" dirty="0"/>
          </a:p>
        </p:txBody>
      </p:sp>
      <p:sp>
        <p:nvSpPr>
          <p:cNvPr id="4" name="Text 2"/>
          <p:cNvSpPr/>
          <p:nvPr/>
        </p:nvSpPr>
        <p:spPr>
          <a:xfrm>
            <a:off x="457200" y="1645920"/>
            <a:ext cx="5029200" cy="2926080"/>
          </a:xfrm>
          <a:prstGeom prst="rect">
            <a:avLst/>
          </a:prstGeom>
          <a:noFill/>
          <a:ln/>
        </p:spPr>
        <p:txBody>
          <a:bodyPr wrap="square" rtlCol="0" anchor="ctr"/>
          <a:lstStyle/>
          <a:p>
            <a:pPr indent="0" marL="0">
              <a:lnSpc>
                <a:spcPts val="1600"/>
              </a:lnSpc>
              <a:buNone/>
            </a:pPr>
            <a:r>
              <a:rPr lang="en-US" sz="1300" b="1" dirty="0">
                <a:solidFill>
                  <a:srgbClr val="F59E0B"/>
                </a:solidFill>
                <a:latin typeface="Arial" pitchFamily="34" charset="0"/>
                <a:ea typeface="Arial" pitchFamily="34" charset="-122"/>
                <a:cs typeface="Arial" pitchFamily="34" charset="-120"/>
              </a:rPr>
              <a:t>The Pitch:
</a:t>
            </a:r>
            <a:pPr indent="0" marL="0">
              <a:lnSpc>
                <a:spcPts val="1600"/>
              </a:lnSpc>
              <a:buNone/>
            </a:pPr>
            <a:r>
              <a:rPr lang="en-US" sz="1100" dirty="0">
                <a:solidFill>
                  <a:srgbClr val="F1F5F9"/>
                </a:solidFill>
                <a:latin typeface="Arial" pitchFamily="34" charset="0"/>
                <a:ea typeface="Arial" pitchFamily="34" charset="-122"/>
                <a:cs typeface="Arial" pitchFamily="34" charset="-120"/>
              </a:rPr>
              <a:t>A high-intensity, UI-driven tactical RPG prototype focusing on preparation and reflex-based combat.
</a:t>
            </a:r>
            <a:pPr indent="0" marL="0">
              <a:lnSpc>
                <a:spcPts val="1600"/>
              </a:lnSpc>
              <a:buNone/>
            </a:pPr>
            <a:r>
              <a:rPr lang="en-US" sz="1300" b="1" dirty="0">
                <a:solidFill>
                  <a:srgbClr val="F59E0B"/>
                </a:solidFill>
                <a:latin typeface="Arial" pitchFamily="34" charset="0"/>
                <a:ea typeface="Arial" pitchFamily="34" charset="-122"/>
                <a:cs typeface="Arial" pitchFamily="34" charset="-120"/>
              </a:rPr>
              <a:t>Project Narrative Summary:
</a:t>
            </a:r>
            <a:pPr indent="0" marL="0">
              <a:lnSpc>
                <a:spcPts val="1600"/>
              </a:lnSpc>
              <a:buNone/>
            </a:pPr>
            <a:r>
              <a:rPr lang="en-US" sz="1100" dirty="0">
                <a:solidFill>
                  <a:srgbClr val="F1F5F9"/>
                </a:solidFill>
                <a:latin typeface="Arial" pitchFamily="34" charset="0"/>
                <a:ea typeface="Arial" pitchFamily="34" charset="-122"/>
                <a:cs typeface="Arial" pitchFamily="34" charset="-120"/>
              </a:rPr>
              <a:t>Runebreaker demonstrates how real-time danger can be simulated cleanly in a web interface using React's state-driven intervals rather than high-overhead canvas rendering. By binding a background useEffect timer loop to active combat state, the dashboard forces immediate player reactions while tracking health pools dynamically. This design shifts RPG gameplay from passive stat-checking to reflex-based tactical clicks, establishing a lightweight, responsive framework for browser-based action-RPG interfaces.</a:t>
            </a:r>
            <a:endParaRPr lang="en-US" sz="1300" dirty="0"/>
          </a:p>
        </p:txBody>
      </p:sp>
      <p:sp>
        <p:nvSpPr>
          <p:cNvPr id="5" name="Shape 3"/>
          <p:cNvSpPr/>
          <p:nvPr/>
        </p:nvSpPr>
        <p:spPr>
          <a:xfrm>
            <a:off x="5760720" y="1645920"/>
            <a:ext cx="2926080" cy="2926080"/>
          </a:xfrm>
          <a:prstGeom prst="rect">
            <a:avLst/>
          </a:prstGeom>
          <a:solidFill>
            <a:srgbClr val="1E293B"/>
          </a:solidFill>
          <a:ln w="19050">
            <a:solidFill>
              <a:srgbClr val="D97706"/>
            </a:solidFill>
            <a:prstDash val="solid"/>
          </a:ln>
        </p:spPr>
      </p:sp>
      <p:sp>
        <p:nvSpPr>
          <p:cNvPr id="6" name="Text 4"/>
          <p:cNvSpPr/>
          <p:nvPr/>
        </p:nvSpPr>
        <p:spPr>
          <a:xfrm>
            <a:off x="5852160" y="1737360"/>
            <a:ext cx="2743200" cy="274320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 MOODBOARD DIRECTIONS
</a:t>
            </a:r>
            <a:pPr indent="0" marL="0">
              <a:buNone/>
            </a:pPr>
            <a:r>
              <a:rPr lang="en-US" sz="1000" b="1" dirty="0">
                <a:solidFill>
                  <a:srgbClr val="F1F5F9"/>
                </a:solidFill>
                <a:latin typeface="Arial" pitchFamily="34" charset="0"/>
                <a:ea typeface="Arial" pitchFamily="34" charset="-122"/>
                <a:cs typeface="Arial" pitchFamily="34" charset="-120"/>
              </a:rPr>
              <a:t>• Dark Medieval Textures:
</a:t>
            </a:r>
            <a:pPr indent="0" marL="0">
              <a:buNone/>
            </a:pPr>
            <a:r>
              <a:rPr lang="en-US" sz="900" dirty="0">
                <a:solidFill>
                  <a:srgbClr val="94A3B8"/>
                </a:solidFill>
                <a:latin typeface="Arial" pitchFamily="34" charset="0"/>
                <a:ea typeface="Arial" pitchFamily="34" charset="-122"/>
                <a:cs typeface="Arial" pitchFamily="34" charset="-120"/>
              </a:rPr>
              <a:t>Grimy stone brick wall overlays for screen containers.
</a:t>
            </a:r>
            <a:pPr indent="0" marL="0">
              <a:buNone/>
            </a:pPr>
            <a:r>
              <a:rPr lang="en-US" sz="1000" b="1" dirty="0">
                <a:solidFill>
                  <a:srgbClr val="F1F5F9"/>
                </a:solidFill>
                <a:latin typeface="Arial" pitchFamily="34" charset="0"/>
                <a:ea typeface="Arial" pitchFamily="34" charset="-122"/>
                <a:cs typeface="Arial" pitchFamily="34" charset="-120"/>
              </a:rPr>
              <a:t>• Neon Magic Accents:
</a:t>
            </a:r>
            <a:pPr indent="0" marL="0">
              <a:buNone/>
            </a:pPr>
            <a:r>
              <a:rPr lang="en-US" sz="900" dirty="0">
                <a:solidFill>
                  <a:srgbClr val="94A3B8"/>
                </a:solidFill>
                <a:latin typeface="Arial" pitchFamily="34" charset="0"/>
                <a:ea typeface="Arial" pitchFamily="34" charset="-122"/>
                <a:cs typeface="Arial" pitchFamily="34" charset="-120"/>
              </a:rPr>
              <a:t>Glowing orange rune symbols (Igni) and cyan barriers (Quen).
</a:t>
            </a:r>
            <a:pPr indent="0" marL="0">
              <a:buNone/>
            </a:pPr>
            <a:r>
              <a:rPr lang="en-US" sz="1000" b="1" dirty="0">
                <a:solidFill>
                  <a:srgbClr val="F1F5F9"/>
                </a:solidFill>
                <a:latin typeface="Arial" pitchFamily="34" charset="0"/>
                <a:ea typeface="Arial" pitchFamily="34" charset="-122"/>
                <a:cs typeface="Arial" pitchFamily="34" charset="-120"/>
              </a:rPr>
              <a:t>• Action Health Bars:
</a:t>
            </a:r>
            <a:pPr indent="0" marL="0">
              <a:buNone/>
            </a:pPr>
            <a:r>
              <a:rPr lang="en-US" sz="900" dirty="0">
                <a:solidFill>
                  <a:srgbClr val="94A3B8"/>
                </a:solidFill>
                <a:latin typeface="Arial" pitchFamily="34" charset="0"/>
                <a:ea typeface="Arial" pitchFamily="34" charset="-122"/>
                <a:cs typeface="Arial" pitchFamily="34" charset="-120"/>
              </a:rPr>
              <a:t>Vibrant red and green transitioning gradients indicating live health levels.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Industry Research: Witcher 3 Preparation Menus</a:t>
            </a:r>
            <a:endParaRPr lang="en-US" sz="2200" dirty="0"/>
          </a:p>
        </p:txBody>
      </p:sp>
      <p:sp>
        <p:nvSpPr>
          <p:cNvPr id="3" name="Text 1"/>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Runebreaker Combat Dashboard • Witcher Guild Submission</a:t>
            </a:r>
            <a:endParaRPr lang="en-US" sz="900" dirty="0"/>
          </a:p>
        </p:txBody>
      </p:sp>
      <p:sp>
        <p:nvSpPr>
          <p:cNvPr id="4" name="Shape 2"/>
          <p:cNvSpPr/>
          <p:nvPr/>
        </p:nvSpPr>
        <p:spPr>
          <a:xfrm>
            <a:off x="457200" y="1097280"/>
            <a:ext cx="3657600" cy="3474720"/>
          </a:xfrm>
          <a:prstGeom prst="rect">
            <a:avLst/>
          </a:prstGeom>
          <a:solidFill>
            <a:srgbClr val="1E293B"/>
          </a:solidFill>
          <a:ln w="12700">
            <a:solidFill>
              <a:srgbClr val="D97706"/>
            </a:solidFill>
            <a:prstDash val="solid"/>
          </a:ln>
        </p:spPr>
      </p:sp>
      <p:sp>
        <p:nvSpPr>
          <p:cNvPr id="5" name="Text 3"/>
          <p:cNvSpPr/>
          <p:nvPr/>
        </p:nvSpPr>
        <p:spPr>
          <a:xfrm>
            <a:off x="640080" y="1280160"/>
            <a:ext cx="3291840" cy="310896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 CORE INSPIRATION DETAILS
</a:t>
            </a:r>
            <a:pPr indent="0" marL="0">
              <a:buNone/>
            </a:pPr>
            <a:r>
              <a:rPr lang="en-US" sz="1100" b="1" dirty="0">
                <a:solidFill>
                  <a:srgbClr val="F1F5F9"/>
                </a:solidFill>
                <a:latin typeface="Arial" pitchFamily="34" charset="0"/>
                <a:ea typeface="Arial" pitchFamily="34" charset="-122"/>
                <a:cs typeface="Arial" pitchFamily="34" charset="-120"/>
              </a:rPr>
              <a:t>• Bestiary Pre-study:
</a:t>
            </a:r>
            <a:pPr indent="0" marL="0">
              <a:buNone/>
            </a:pPr>
            <a:r>
              <a:rPr lang="en-US" sz="1000" dirty="0">
                <a:solidFill>
                  <a:srgbClr val="94A3B8"/>
                </a:solidFill>
                <a:latin typeface="Arial" pitchFamily="34" charset="0"/>
                <a:ea typeface="Arial" pitchFamily="34" charset="-122"/>
                <a:cs typeface="Arial" pitchFamily="34" charset="-120"/>
              </a:rPr>
              <a:t>Forcing players to read about monsters before engaging, turning knowledge into weapon efficiency.
</a:t>
            </a:r>
            <a:pPr indent="0" marL="0">
              <a:buNone/>
            </a:pPr>
            <a:r>
              <a:rPr lang="en-US" sz="1100" b="1" dirty="0">
                <a:solidFill>
                  <a:srgbClr val="F1F5F9"/>
                </a:solidFill>
                <a:latin typeface="Arial" pitchFamily="34" charset="0"/>
                <a:ea typeface="Arial" pitchFamily="34" charset="-122"/>
                <a:cs typeface="Arial" pitchFamily="34" charset="-120"/>
              </a:rPr>
              <a:t>• Dynamic Preparations:
</a:t>
            </a:r>
            <a:pPr indent="0" marL="0">
              <a:buNone/>
            </a:pPr>
            <a:r>
              <a:rPr lang="en-US" sz="1000" dirty="0">
                <a:solidFill>
                  <a:srgbClr val="94A3B8"/>
                </a:solidFill>
                <a:latin typeface="Arial" pitchFamily="34" charset="0"/>
                <a:ea typeface="Arial" pitchFamily="34" charset="-122"/>
                <a:cs typeface="Arial" pitchFamily="34" charset="-120"/>
              </a:rPr>
              <a:t>Applying specific oils to physical blades and slotting sign magic to combat specific weaknesses.
</a:t>
            </a:r>
            <a:pPr indent="0" marL="0">
              <a:buNone/>
            </a:pPr>
            <a:r>
              <a:rPr lang="en-US" sz="1100" b="1" dirty="0">
                <a:solidFill>
                  <a:srgbClr val="F1F5F9"/>
                </a:solidFill>
                <a:latin typeface="Arial" pitchFamily="34" charset="0"/>
                <a:ea typeface="Arial" pitchFamily="34" charset="-122"/>
                <a:cs typeface="Arial" pitchFamily="34" charset="-120"/>
              </a:rPr>
              <a:t>• Action Translation:
</a:t>
            </a:r>
            <a:pPr indent="0" marL="0">
              <a:buNone/>
            </a:pPr>
            <a:r>
              <a:rPr lang="en-US" sz="1000" dirty="0">
                <a:solidFill>
                  <a:srgbClr val="94A3B8"/>
                </a:solidFill>
                <a:latin typeface="Arial" pitchFamily="34" charset="0"/>
                <a:ea typeface="Arial" pitchFamily="34" charset="-122"/>
                <a:cs typeface="Arial" pitchFamily="34" charset="-120"/>
              </a:rPr>
              <a:t>Combining pre-game prep with active combat response clickers directly in the UI dashboard.</a:t>
            </a:r>
            <a:endParaRPr lang="en-US" sz="1300" dirty="0"/>
          </a:p>
        </p:txBody>
      </p:sp>
      <p:sp>
        <p:nvSpPr>
          <p:cNvPr id="6" name="Text 4"/>
          <p:cNvSpPr/>
          <p:nvPr/>
        </p:nvSpPr>
        <p:spPr>
          <a:xfrm>
            <a:off x="4389120" y="1097280"/>
            <a:ext cx="4297680" cy="3474720"/>
          </a:xfrm>
          <a:prstGeom prst="rect">
            <a:avLst/>
          </a:prstGeom>
          <a:noFill/>
          <a:ln/>
        </p:spPr>
        <p:txBody>
          <a:bodyPr wrap="square" rtlCol="0" anchor="ctr"/>
          <a:lstStyle/>
          <a:p>
            <a:pPr indent="0" marL="0">
              <a:lnSpc>
                <a:spcPts val="1500"/>
              </a:lnSpc>
              <a:buNone/>
            </a:pPr>
            <a:r>
              <a:rPr lang="en-US" sz="1300" b="1" dirty="0">
                <a:solidFill>
                  <a:srgbClr val="F59E0B"/>
                </a:solidFill>
                <a:latin typeface="Arial" pitchFamily="34" charset="0"/>
                <a:ea typeface="Arial" pitchFamily="34" charset="-122"/>
                <a:cs typeface="Arial" pitchFamily="34" charset="-120"/>
              </a:rPr>
              <a:t>Core Design Inspiration Analysis:
</a:t>
            </a:r>
            <a:pPr indent="0" marL="0">
              <a:lnSpc>
                <a:spcPts val="1500"/>
              </a:lnSpc>
              <a:buNone/>
            </a:pPr>
            <a:r>
              <a:rPr lang="en-US" sz="1100" dirty="0">
                <a:solidFill>
                  <a:srgbClr val="F1F5F9"/>
                </a:solidFill>
                <a:latin typeface="Arial" pitchFamily="34" charset="0"/>
                <a:ea typeface="Arial" pitchFamily="34" charset="-122"/>
                <a:cs typeface="Arial" pitchFamily="34" charset="-120"/>
              </a:rPr>
              <a:t>The core design inspiration for Runebreaker stems from The Witcher 3's preparation menus. The Witcher utilizes crisp iconography and explicit monster vulnerability data to force tactical decision-making before an encounter, teaching players that knowledge is as vital as reflexes.
</a:t>
            </a:r>
            <a:pPr indent="0" marL="0">
              <a:lnSpc>
                <a:spcPts val="1500"/>
              </a:lnSpc>
              <a:buNone/>
            </a:pPr>
            <a:r>
              <a:rPr lang="en-US" sz="1100" dirty="0">
                <a:solidFill>
                  <a:srgbClr val="F1F5F9"/>
                </a:solidFill>
                <a:latin typeface="Arial" pitchFamily="34" charset="0"/>
                <a:ea typeface="Arial" pitchFamily="34" charset="-122"/>
                <a:cs typeface="Arial" pitchFamily="34" charset="-120"/>
              </a:rPr>
              <a:t>Runebreaker translates this philosophy into a lightweight web dashboard. Instead of relying on a complex 3D engine, this prototype encapsulates prep menus into an interactive grid of Runes and Oils, immediately followed by a live active-time clicker layout.
</a:t>
            </a:r>
            <a:pPr indent="0" marL="0">
              <a:lnSpc>
                <a:spcPts val="1500"/>
              </a:lnSpc>
              <a:buNone/>
            </a:pPr>
            <a:r>
              <a:rPr lang="en-US" sz="1100" dirty="0">
                <a:solidFill>
                  <a:srgbClr val="F1F5F9"/>
                </a:solidFill>
                <a:latin typeface="Arial" pitchFamily="34" charset="0"/>
                <a:ea typeface="Arial" pitchFamily="34" charset="-122"/>
                <a:cs typeface="Arial" pitchFamily="34" charset="-120"/>
              </a:rPr>
              <a:t>In the Prep Phase, players are forced to match the Swamp Hag's weakness (Igni Rune and Necrophage Oil) to survive. Once the hunt begins, the UI shifts from static data checking to active tension. This combination proves that clean web dashboards can capture the mechanical depth of AAA games, maximizing user engagement by linking pre-game planning directly to real-time success.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GDD &amp; Core Gameplay System Loop</a:t>
            </a:r>
            <a:endParaRPr lang="en-US" sz="2200" dirty="0"/>
          </a:p>
        </p:txBody>
      </p:sp>
      <p:sp>
        <p:nvSpPr>
          <p:cNvPr id="3" name="Text 1"/>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Runebreaker Combat Dashboard • Witcher Guild Submission</a:t>
            </a:r>
            <a:endParaRPr lang="en-US" sz="900" dirty="0"/>
          </a:p>
        </p:txBody>
      </p:sp>
      <p:sp>
        <p:nvSpPr>
          <p:cNvPr id="4" name="Shape 2"/>
          <p:cNvSpPr/>
          <p:nvPr/>
        </p:nvSpPr>
        <p:spPr>
          <a:xfrm>
            <a:off x="457200" y="1097280"/>
            <a:ext cx="3840480" cy="3474720"/>
          </a:xfrm>
          <a:prstGeom prst="rect">
            <a:avLst/>
          </a:prstGeom>
          <a:solidFill>
            <a:srgbClr val="1E293B"/>
          </a:solidFill>
          <a:ln w="12700">
            <a:solidFill>
              <a:srgbClr val="D97706"/>
            </a:solidFill>
            <a:prstDash val="solid"/>
          </a:ln>
        </p:spPr>
      </p:sp>
      <p:sp>
        <p:nvSpPr>
          <p:cNvPr id="5" name="Text 3"/>
          <p:cNvSpPr/>
          <p:nvPr/>
        </p:nvSpPr>
        <p:spPr>
          <a:xfrm>
            <a:off x="640080" y="1188720"/>
            <a:ext cx="3474720" cy="3291840"/>
          </a:xfrm>
          <a:prstGeom prst="rect">
            <a:avLst/>
          </a:prstGeom>
          <a:noFill/>
          <a:ln/>
        </p:spPr>
        <p:txBody>
          <a:bodyPr wrap="square" rtlCol="0" anchor="ctr"/>
          <a:lstStyle/>
          <a:p>
            <a:pPr indent="0" marL="0">
              <a:buNone/>
            </a:pPr>
            <a:r>
              <a:rPr lang="en-US" sz="1200" b="1" dirty="0">
                <a:solidFill>
                  <a:srgbClr val="F59E0B"/>
                </a:solidFill>
                <a:latin typeface="Arial" pitchFamily="34" charset="0"/>
                <a:ea typeface="Arial" pitchFamily="34" charset="-122"/>
                <a:cs typeface="Arial" pitchFamily="34" charset="-120"/>
              </a:rPr>
              <a:t>🔄 CORE GAMEPLAY LOOP
</a:t>
            </a:r>
            <a:pPr indent="0" marL="0">
              <a:buNone/>
            </a:pPr>
            <a:r>
              <a:rPr lang="en-US" sz="1000" b="1" dirty="0">
                <a:solidFill>
                  <a:srgbClr val="F1F5F9"/>
                </a:solidFill>
                <a:latin typeface="Arial" pitchFamily="34" charset="0"/>
                <a:ea typeface="Arial" pitchFamily="34" charset="-122"/>
                <a:cs typeface="Arial" pitchFamily="34" charset="-120"/>
              </a:rPr>
              <a:t>1. Prep Screen: Select Loadout
</a:t>
            </a:r>
            <a:pPr indent="0" marL="0">
              <a:buNone/>
            </a:pPr>
            <a:r>
              <a:rPr lang="en-US" sz="900" dirty="0">
                <a:solidFill>
                  <a:srgbClr val="94A3B8"/>
                </a:solidFill>
                <a:latin typeface="Arial" pitchFamily="34" charset="0"/>
                <a:ea typeface="Arial" pitchFamily="34" charset="-122"/>
                <a:cs typeface="Arial" pitchFamily="34" charset="-120"/>
              </a:rPr>
              <a:t>   └ Select Runes (Igni/Quen) and Blade Oils.
</a:t>
            </a:r>
            <a:pPr indent="0" marL="0">
              <a:buNone/>
            </a:pPr>
            <a:r>
              <a:rPr lang="en-US" sz="1000" b="1" dirty="0">
                <a:solidFill>
                  <a:srgbClr val="F1F5F9"/>
                </a:solidFill>
                <a:latin typeface="Arial" pitchFamily="34" charset="0"/>
                <a:ea typeface="Arial" pitchFamily="34" charset="-122"/>
                <a:cs typeface="Arial" pitchFamily="34" charset="-120"/>
              </a:rPr>
              <a:t>2. Combat Screen: Active Loop
</a:t>
            </a:r>
            <a:pPr indent="0" marL="0">
              <a:buNone/>
            </a:pPr>
            <a:r>
              <a:rPr lang="en-US" sz="900" dirty="0">
                <a:solidFill>
                  <a:srgbClr val="94A3B8"/>
                </a:solidFill>
                <a:latin typeface="Arial" pitchFamily="34" charset="0"/>
                <a:ea typeface="Arial" pitchFamily="34" charset="-122"/>
                <a:cs typeface="Arial" pitchFamily="34" charset="-120"/>
              </a:rPr>
              <a:t>   └ Enemy interval triggers auto-damage every 1.5s.
</a:t>
            </a:r>
            <a:pPr indent="0" marL="0">
              <a:buNone/>
            </a:pPr>
            <a:r>
              <a:rPr lang="en-US" sz="1000" b="1" dirty="0">
                <a:solidFill>
                  <a:srgbClr val="F1F5F9"/>
                </a:solidFill>
                <a:latin typeface="Arial" pitchFamily="34" charset="0"/>
                <a:ea typeface="Arial" pitchFamily="34" charset="-122"/>
                <a:cs typeface="Arial" pitchFamily="34" charset="-120"/>
              </a:rPr>
              <a:t>3. Player Strike Actions
</a:t>
            </a:r>
            <a:pPr indent="0" marL="0">
              <a:buNone/>
            </a:pPr>
            <a:r>
              <a:rPr lang="en-US" sz="900" dirty="0">
                <a:solidFill>
                  <a:srgbClr val="94A3B8"/>
                </a:solidFill>
                <a:latin typeface="Arial" pitchFamily="34" charset="0"/>
                <a:ea typeface="Arial" pitchFamily="34" charset="-122"/>
                <a:cs typeface="Arial" pitchFamily="34" charset="-120"/>
              </a:rPr>
              <a:t>   └ Silver Slash &amp; Rune Blast calculations.
</a:t>
            </a:r>
            <a:pPr indent="0" marL="0">
              <a:buNone/>
            </a:pPr>
            <a:r>
              <a:rPr lang="en-US" sz="1000" b="1" dirty="0">
                <a:solidFill>
                  <a:srgbClr val="F1F5F9"/>
                </a:solidFill>
                <a:latin typeface="Arial" pitchFamily="34" charset="0"/>
                <a:ea typeface="Arial" pitchFamily="34" charset="-122"/>
                <a:cs typeface="Arial" pitchFamily="34" charset="-120"/>
              </a:rPr>
              <a:t>4. State Evaluation Condition
</a:t>
            </a:r>
            <a:pPr indent="0" marL="0">
              <a:buNone/>
            </a:pPr>
            <a:r>
              <a:rPr lang="en-US" sz="900" dirty="0">
                <a:solidFill>
                  <a:srgbClr val="94A3B8"/>
                </a:solidFill>
                <a:latin typeface="Arial" pitchFamily="34" charset="0"/>
                <a:ea typeface="Arial" pitchFamily="34" charset="-122"/>
                <a:cs typeface="Arial" pitchFamily="34" charset="-120"/>
              </a:rPr>
              <a:t>   └ Evaluate HP pools for Victory or Game Over.
</a:t>
            </a:r>
            <a:pPr indent="0" marL="0">
              <a:buNone/>
            </a:pPr>
            <a:r>
              <a:rPr lang="en-US" sz="1000" b="1" dirty="0">
                <a:solidFill>
                  <a:srgbClr val="F1F5F9"/>
                </a:solidFill>
                <a:latin typeface="Arial" pitchFamily="34" charset="0"/>
                <a:ea typeface="Arial" pitchFamily="34" charset="-122"/>
                <a:cs typeface="Arial" pitchFamily="34" charset="-120"/>
              </a:rPr>
              <a:t>5. Game Reset Trigger
</a:t>
            </a:r>
            <a:pPr indent="0" marL="0">
              <a:buNone/>
            </a:pPr>
            <a:r>
              <a:rPr lang="en-US" sz="900" dirty="0">
                <a:solidFill>
                  <a:srgbClr val="94A3B8"/>
                </a:solidFill>
                <a:latin typeface="Arial" pitchFamily="34" charset="0"/>
                <a:ea typeface="Arial" pitchFamily="34" charset="-122"/>
                <a:cs typeface="Arial" pitchFamily="34" charset="-120"/>
              </a:rPr>
              <a:t>   └ Return to prep screen to reset parameters.</a:t>
            </a:r>
            <a:endParaRPr lang="en-US" sz="1200" dirty="0"/>
          </a:p>
        </p:txBody>
      </p:sp>
      <p:sp>
        <p:nvSpPr>
          <p:cNvPr id="6" name="Text 4"/>
          <p:cNvSpPr/>
          <p:nvPr/>
        </p:nvSpPr>
        <p:spPr>
          <a:xfrm>
            <a:off x="4572000" y="1097280"/>
            <a:ext cx="4114800" cy="347472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Mechanical Rule Triggers:
</a:t>
            </a:r>
            <a:pPr indent="0" marL="0">
              <a:buNone/>
            </a:pPr>
            <a:r>
              <a:rPr lang="en-US" sz="1100" dirty="0">
                <a:solidFill>
                  <a:srgbClr val="F1F5F9"/>
                </a:solidFill>
                <a:latin typeface="Arial" pitchFamily="34" charset="0"/>
                <a:ea typeface="Arial" pitchFamily="34" charset="-122"/>
                <a:cs typeface="Arial" pitchFamily="34" charset="-120"/>
              </a:rPr>
              <a:t>• Weakness Synergy: Matching Rune (Igni) -&gt; 2x Base Damage (30 base magic damage instead of 10).
</a:t>
            </a:r>
            <a:pPr indent="0" marL="0">
              <a:buNone/>
            </a:pPr>
            <a:r>
              <a:rPr lang="en-US" sz="1100" dirty="0">
                <a:solidFill>
                  <a:srgbClr val="F1F5F9"/>
                </a:solidFill>
                <a:latin typeface="Arial" pitchFamily="34" charset="0"/>
                <a:ea typeface="Arial" pitchFamily="34" charset="-122"/>
                <a:cs typeface="Arial" pitchFamily="34" charset="-120"/>
              </a:rPr>
              <a:t>• Blade Oil Coating: Necrophage Oil applied -&gt; +5 Physical Slash damage.
</a:t>
            </a:r>
            <a:pPr indent="0" marL="0">
              <a:buNone/>
            </a:pPr>
            <a:r>
              <a:rPr lang="en-US" sz="1100" dirty="0">
                <a:solidFill>
                  <a:srgbClr val="F1F5F9"/>
                </a:solidFill>
                <a:latin typeface="Arial" pitchFamily="34" charset="0"/>
                <a:ea typeface="Arial" pitchFamily="34" charset="-122"/>
                <a:cs typeface="Arial" pitchFamily="34" charset="-120"/>
              </a:rPr>
              <a:t>• Combo Blast: Igni Rune + Necrophage Oil -&gt; +10 Rune Blast Bonus Damage (deals 40 damage total).
</a:t>
            </a:r>
            <a:pPr indent="0" marL="0">
              <a:buNone/>
            </a:pPr>
            <a:r>
              <a:rPr lang="en-US" sz="1100" dirty="0">
                <a:solidFill>
                  <a:srgbClr val="F1F5F9"/>
                </a:solidFill>
                <a:latin typeface="Arial" pitchFamily="34" charset="0"/>
                <a:ea typeface="Arial" pitchFamily="34" charset="-122"/>
                <a:cs typeface="Arial" pitchFamily="34" charset="-120"/>
              </a:rPr>
              <a:t>• Survival Buffer: Quen Shield -&gt; Blocks 100% of first enemy attack (0 damage, breaks barrier).
</a:t>
            </a:r>
            <a:pPr indent="0" marL="0">
              <a:buNone/>
            </a:pPr>
            <a:r>
              <a:rPr lang="en-US" sz="1100" dirty="0">
                <a:solidFill>
                  <a:srgbClr val="F1F5F9"/>
                </a:solidFill>
                <a:latin typeface="Arial" pitchFamily="34" charset="0"/>
                <a:ea typeface="Arial" pitchFamily="34" charset="-122"/>
                <a:cs typeface="Arial" pitchFamily="34" charset="-120"/>
              </a:rPr>
              <a:t>• Active Danger Loop: Swamp Hag deals 15 damage automatically every 1.5 seconds.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Technical Implementation &amp; Testing Evidence</a:t>
            </a:r>
            <a:endParaRPr lang="en-US" sz="2200" dirty="0"/>
          </a:p>
        </p:txBody>
      </p:sp>
      <p:sp>
        <p:nvSpPr>
          <p:cNvPr id="3" name="Text 1"/>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Runebreaker Combat Dashboard • Witcher Guild Submission</a:t>
            </a:r>
            <a:endParaRPr lang="en-US" sz="900" dirty="0"/>
          </a:p>
        </p:txBody>
      </p:sp>
      <p:sp>
        <p:nvSpPr>
          <p:cNvPr id="4" name="Shape 2"/>
          <p:cNvSpPr/>
          <p:nvPr/>
        </p:nvSpPr>
        <p:spPr>
          <a:xfrm>
            <a:off x="457200" y="1097280"/>
            <a:ext cx="4572000" cy="3474720"/>
          </a:xfrm>
          <a:prstGeom prst="rect">
            <a:avLst/>
          </a:prstGeom>
          <a:solidFill>
            <a:srgbClr val="1E293B"/>
          </a:solidFill>
          <a:ln w="12700">
            <a:solidFill>
              <a:srgbClr val="D97706"/>
            </a:solidFill>
            <a:prstDash val="solid"/>
          </a:ln>
        </p:spPr>
      </p:sp>
      <p:sp>
        <p:nvSpPr>
          <p:cNvPr id="5" name="Text 3"/>
          <p:cNvSpPr/>
          <p:nvPr/>
        </p:nvSpPr>
        <p:spPr>
          <a:xfrm>
            <a:off x="548640" y="1188720"/>
            <a:ext cx="4389120" cy="3291840"/>
          </a:xfrm>
          <a:prstGeom prst="rect">
            <a:avLst/>
          </a:prstGeom>
          <a:noFill/>
          <a:ln/>
        </p:spPr>
        <p:txBody>
          <a:bodyPr wrap="square" rtlCol="0" anchor="ctr"/>
          <a:lstStyle/>
          <a:p>
            <a:pPr indent="0" marL="0">
              <a:buNone/>
            </a:pPr>
            <a:r>
              <a:rPr lang="en-US" sz="850" dirty="0">
                <a:solidFill>
                  <a:srgbClr val="CCCCCC"/>
                </a:solidFill>
                <a:latin typeface="Courier New" pitchFamily="34" charset="0"/>
                <a:ea typeface="Courier New" pitchFamily="34" charset="-122"/>
                <a:cs typeface="Courier New" pitchFamily="34" charset="-120"/>
              </a:rPr>
              <a:t>// React combat interval loop in App.tsx</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useEffect(() =&gt;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if (currentScreen === 'combat')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if (equippedRune === 'Quen') setQuenShieldActive(true);</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timerRef.current = setInterval(() =&gt;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setQuenShieldActive(currShield =&gt;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if (currShield) return false; // Absorbed!</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setPlayerHp(currHp =&gt;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const nextHp = currHp - 15;</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if (nextHp &lt;= 0)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clearInterval(timerRef.current);</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setCurrentScreen('gameover');</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return 0;</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setIsPlayerDmgFlash(true);</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setIsShake(true);</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setTimeout(() =&gt; setIsPlayerDmgFlash(false), 500);</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setTimeout(() =&gt; setIsShake(false), 500);</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return nextHp;</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return false;</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 1500);</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return () =&gt; clearInterval(timerRef.current);</a:t>
            </a:r>
            <a:endParaRPr lang="en-US" sz="850" dirty="0"/>
          </a:p>
          <a:p>
            <a:pPr indent="0" marL="0">
              <a:buNone/>
            </a:pPr>
            <a:r>
              <a:rPr lang="en-US" sz="850" dirty="0">
                <a:solidFill>
                  <a:srgbClr val="CCCCCC"/>
                </a:solidFill>
                <a:latin typeface="Courier New" pitchFamily="34" charset="0"/>
                <a:ea typeface="Courier New" pitchFamily="34" charset="-122"/>
                <a:cs typeface="Courier New" pitchFamily="34" charset="-120"/>
              </a:rPr>
              <a:t>}, [currentScreen]);</a:t>
            </a:r>
            <a:endParaRPr lang="en-US" sz="850" dirty="0"/>
          </a:p>
        </p:txBody>
      </p:sp>
      <p:sp>
        <p:nvSpPr>
          <p:cNvPr id="6" name="Text 4"/>
          <p:cNvSpPr/>
          <p:nvPr/>
        </p:nvSpPr>
        <p:spPr>
          <a:xfrm>
            <a:off x="5303520" y="1097280"/>
            <a:ext cx="3383280" cy="3474720"/>
          </a:xfrm>
          <a:prstGeom prst="rect">
            <a:avLst/>
          </a:prstGeom>
          <a:noFill/>
          <a:ln/>
        </p:spPr>
        <p:txBody>
          <a:bodyPr wrap="square" rtlCol="0" anchor="ctr"/>
          <a:lstStyle/>
          <a:p>
            <a:pPr indent="0" marL="0">
              <a:lnSpc>
                <a:spcPts val="1600"/>
              </a:lnSpc>
              <a:buNone/>
            </a:pPr>
            <a:r>
              <a:rPr lang="en-US" sz="1300" b="1" dirty="0">
                <a:solidFill>
                  <a:srgbClr val="F59E0B"/>
                </a:solidFill>
                <a:latin typeface="Arial" pitchFamily="34" charset="0"/>
                <a:ea typeface="Arial" pitchFamily="34" charset="-122"/>
                <a:cs typeface="Arial" pitchFamily="34" charset="-120"/>
              </a:rPr>
              <a:t>Technical Balance Testing Summary:
</a:t>
            </a:r>
            <a:pPr indent="0" marL="0">
              <a:lnSpc>
                <a:spcPts val="1600"/>
              </a:lnSpc>
              <a:buNone/>
            </a:pPr>
            <a:r>
              <a:rPr lang="en-US" sz="1100" dirty="0">
                <a:solidFill>
                  <a:srgbClr val="F1F5F9"/>
                </a:solidFill>
                <a:latin typeface="Arial" pitchFamily="34" charset="0"/>
                <a:ea typeface="Arial" pitchFamily="34" charset="-122"/>
                <a:cs typeface="Arial" pitchFamily="34" charset="-120"/>
              </a:rPr>
              <a:t>The combat balancing loop was thoroughly tested by varying the enemy attack interval. Settling on a 1.5-second clock cycle optimized tension. This speed prevents victory through mindless clicking of default attacks and requires strategic loadouts (Igni Rune and Necrophage Oil) to deplete the monster’s health pool before the player is overwhelmed.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Academic Critique &amp; Reflection</a:t>
            </a:r>
            <a:endParaRPr lang="en-US" sz="2200" dirty="0"/>
          </a:p>
        </p:txBody>
      </p:sp>
      <p:sp>
        <p:nvSpPr>
          <p:cNvPr id="3" name="Text 1"/>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Runebreaker Combat Dashboard • Witcher Guild Submission</a:t>
            </a:r>
            <a:endParaRPr lang="en-US" sz="900" dirty="0"/>
          </a:p>
        </p:txBody>
      </p:sp>
      <p:sp>
        <p:nvSpPr>
          <p:cNvPr id="4" name="Text 2"/>
          <p:cNvSpPr/>
          <p:nvPr/>
        </p:nvSpPr>
        <p:spPr>
          <a:xfrm>
            <a:off x="457200" y="1005840"/>
            <a:ext cx="5303520" cy="3566160"/>
          </a:xfrm>
          <a:prstGeom prst="rect">
            <a:avLst/>
          </a:prstGeom>
          <a:noFill/>
          <a:ln/>
        </p:spPr>
        <p:txBody>
          <a:bodyPr wrap="square" rtlCol="0" anchor="ctr"/>
          <a:lstStyle/>
          <a:p>
            <a:pPr indent="0" marL="0">
              <a:lnSpc>
                <a:spcPts val="1400"/>
              </a:lnSpc>
              <a:buNone/>
            </a:pPr>
            <a:r>
              <a:rPr lang="en-US" sz="1300" b="1" dirty="0">
                <a:solidFill>
                  <a:srgbClr val="F59E0B"/>
                </a:solidFill>
                <a:latin typeface="Arial" pitchFamily="34" charset="0"/>
                <a:ea typeface="Arial" pitchFamily="34" charset="-122"/>
                <a:cs typeface="Arial" pitchFamily="34" charset="-120"/>
              </a:rPr>
              <a:t>Academic Self-Evaluation Critique:
</a:t>
            </a:r>
            <a:pPr indent="0" marL="0">
              <a:lnSpc>
                <a:spcPts val="1400"/>
              </a:lnSpc>
              <a:buNone/>
            </a:pPr>
            <a:r>
              <a:rPr lang="en-US" sz="1100" dirty="0">
                <a:solidFill>
                  <a:srgbClr val="F1F5F9"/>
                </a:solidFill>
                <a:latin typeface="Arial" pitchFamily="34" charset="0"/>
                <a:ea typeface="Arial" pitchFamily="34" charset="-122"/>
                <a:cs typeface="Arial" pitchFamily="34" charset="-120"/>
              </a:rPr>
              <a:t>The Runebreaker prototype successfully demonstrates that a high-intensity, reactive gameplay loop can be delivered within a standard web page without relying on canvas-based rendering libraries.
</a:t>
            </a:r>
            <a:pPr indent="0" marL="0">
              <a:lnSpc>
                <a:spcPts val="1400"/>
              </a:lnSpc>
              <a:buNone/>
            </a:pPr>
            <a:r>
              <a:rPr lang="en-US" sz="1100" dirty="0">
                <a:solidFill>
                  <a:srgbClr val="F1F5F9"/>
                </a:solidFill>
                <a:latin typeface="Arial" pitchFamily="34" charset="0"/>
                <a:ea typeface="Arial" pitchFamily="34" charset="-122"/>
                <a:cs typeface="Arial" pitchFamily="34" charset="-120"/>
              </a:rPr>
              <a:t>What worked exceptionally well was leveraging Tailwind CSS state-driven transitions for real-time visual feedback. Combining a screen shake animation with color-flash overlays instantly conveyed physical impact, simulating typical combat urgency.
</a:t>
            </a:r>
            <a:pPr indent="0" marL="0">
              <a:lnSpc>
                <a:spcPts val="1400"/>
              </a:lnSpc>
              <a:buNone/>
            </a:pPr>
            <a:r>
              <a:rPr lang="en-US" sz="1100" dirty="0">
                <a:solidFill>
                  <a:srgbClr val="F1F5F9"/>
                </a:solidFill>
                <a:latin typeface="Arial" pitchFamily="34" charset="0"/>
                <a:ea typeface="Arial" pitchFamily="34" charset="-122"/>
                <a:cs typeface="Arial" pitchFamily="34" charset="-120"/>
              </a:rPr>
              <a:t>Furthermore, implementing an inlined synthesizer engine via the Web Audio API allowed the prototype to play custom sound effects on actions, bypassing the need to load external media assets. This design proves that standard browser APIs are sufficient to build rich, immersive game-feel environments.
</a:t>
            </a:r>
            <a:pPr indent="0" marL="0">
              <a:lnSpc>
                <a:spcPts val="1400"/>
              </a:lnSpc>
              <a:buNone/>
            </a:pPr>
            <a:r>
              <a:rPr lang="en-US" sz="1100" dirty="0">
                <a:solidFill>
                  <a:srgbClr val="F1F5F9"/>
                </a:solidFill>
                <a:latin typeface="Arial" pitchFamily="34" charset="0"/>
                <a:ea typeface="Arial" pitchFamily="34" charset="-122"/>
                <a:cs typeface="Arial" pitchFamily="34" charset="-120"/>
              </a:rPr>
              <a:t>However, future development scopes could improve several dimensions. The combat state is tightly coupled to the main component, which limits scalability. Migrating to a context-driven or state-management pattern (like Redux) would facilitate complex encounters with multiple enemies. Additionally, adding a dynamic WebGL particle system for spell casts would elevate visual polish. In conclusion, the prototype serves as a strong academic proof-of-concept, highlighting the viability of CSS transitions and native browser APIs in simulating complex, real-time action-RPG mechanics.</a:t>
            </a:r>
            <a:endParaRPr lang="en-US" sz="1300" dirty="0"/>
          </a:p>
        </p:txBody>
      </p:sp>
      <p:sp>
        <p:nvSpPr>
          <p:cNvPr id="5" name="Shape 3"/>
          <p:cNvSpPr/>
          <p:nvPr/>
        </p:nvSpPr>
        <p:spPr>
          <a:xfrm>
            <a:off x="5943600" y="1097280"/>
            <a:ext cx="2743200" cy="3383280"/>
          </a:xfrm>
          <a:prstGeom prst="rect">
            <a:avLst/>
          </a:prstGeom>
          <a:solidFill>
            <a:srgbClr val="1E293B"/>
          </a:solidFill>
          <a:ln w="12700">
            <a:solidFill>
              <a:srgbClr val="D97706"/>
            </a:solidFill>
            <a:prstDash val="solid"/>
          </a:ln>
        </p:spPr>
      </p:sp>
      <p:sp>
        <p:nvSpPr>
          <p:cNvPr id="6" name="Text 4"/>
          <p:cNvSpPr/>
          <p:nvPr/>
        </p:nvSpPr>
        <p:spPr>
          <a:xfrm>
            <a:off x="6035040" y="1188720"/>
            <a:ext cx="2560320" cy="3200400"/>
          </a:xfrm>
          <a:prstGeom prst="rect">
            <a:avLst/>
          </a:prstGeom>
          <a:noFill/>
          <a:ln/>
        </p:spPr>
        <p:txBody>
          <a:bodyPr wrap="square" rtlCol="0" anchor="ctr"/>
          <a:lstStyle/>
          <a:p>
            <a:pPr indent="0" marL="0">
              <a:buNone/>
            </a:pPr>
            <a:r>
              <a:rPr lang="en-US" sz="1100" b="1" dirty="0">
                <a:solidFill>
                  <a:srgbClr val="F59E0B"/>
                </a:solidFill>
                <a:latin typeface="Arial" pitchFamily="34" charset="0"/>
                <a:ea typeface="Arial" pitchFamily="34" charset="-122"/>
                <a:cs typeface="Arial" pitchFamily="34" charset="-120"/>
              </a:rPr>
              <a:t>📝 CRITIQUE SUMMARY
</a:t>
            </a:r>
            <a:pPr indent="0" marL="0">
              <a:buNone/>
            </a:pPr>
            <a:r>
              <a:rPr lang="en-US" sz="1000" b="1" dirty="0">
                <a:solidFill>
                  <a:srgbClr val="F1F5F9"/>
                </a:solidFill>
                <a:latin typeface="Arial" pitchFamily="34" charset="0"/>
                <a:ea typeface="Arial" pitchFamily="34" charset="-122"/>
                <a:cs typeface="Arial" pitchFamily="34" charset="-120"/>
              </a:rPr>
              <a:t>• What Worked:
</a:t>
            </a:r>
            <a:pPr indent="0" marL="0">
              <a:buNone/>
            </a:pPr>
            <a:r>
              <a:rPr lang="en-US" sz="900" dirty="0">
                <a:solidFill>
                  <a:srgbClr val="94A3B8"/>
                </a:solidFill>
                <a:latin typeface="Arial" pitchFamily="34" charset="0"/>
                <a:ea typeface="Arial" pitchFamily="34" charset="-122"/>
                <a:cs typeface="Arial" pitchFamily="34" charset="-120"/>
              </a:rPr>
              <a:t>Tailwind transitions, visual screen shake effects, and zero-dependency Web Audio synthesizers.
</a:t>
            </a:r>
            <a:pPr indent="0" marL="0">
              <a:buNone/>
            </a:pPr>
            <a:r>
              <a:rPr lang="en-US" sz="1000" b="1" dirty="0">
                <a:solidFill>
                  <a:srgbClr val="F1F5F9"/>
                </a:solidFill>
                <a:latin typeface="Arial" pitchFamily="34" charset="0"/>
                <a:ea typeface="Arial" pitchFamily="34" charset="-122"/>
                <a:cs typeface="Arial" pitchFamily="34" charset="-120"/>
              </a:rPr>
              <a:t>• What to Improve:
</a:t>
            </a:r>
            <a:pPr indent="0" marL="0">
              <a:buNone/>
            </a:pPr>
            <a:r>
              <a:rPr lang="en-US" sz="900" dirty="0">
                <a:solidFill>
                  <a:srgbClr val="94A3B8"/>
                </a:solidFill>
                <a:latin typeface="Arial" pitchFamily="34" charset="0"/>
                <a:ea typeface="Arial" pitchFamily="34" charset="-122"/>
                <a:cs typeface="Arial" pitchFamily="34" charset="-120"/>
              </a:rPr>
              <a:t>Decouple state logic to Redux, implement WebGL particle systems, and allow multiple enemies.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Live Showcase &amp; Project Deployment</a:t>
            </a:r>
            <a:endParaRPr lang="en-US" sz="2200" dirty="0"/>
          </a:p>
        </p:txBody>
      </p:sp>
      <p:sp>
        <p:nvSpPr>
          <p:cNvPr id="3" name="Text 1"/>
          <p:cNvSpPr/>
          <p:nvPr/>
        </p:nvSpPr>
        <p:spPr>
          <a:xfrm>
            <a:off x="457200" y="4754880"/>
            <a:ext cx="8229600" cy="274320"/>
          </a:xfrm>
          <a:prstGeom prst="rect">
            <a:avLst/>
          </a:prstGeom>
          <a:noFill/>
          <a:ln/>
        </p:spPr>
        <p:txBody>
          <a:bodyPr wrap="square"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Runebreaker Combat Dashboard • Witcher Guild Submission</a:t>
            </a:r>
            <a:endParaRPr lang="en-US" sz="900" dirty="0"/>
          </a:p>
        </p:txBody>
      </p:sp>
      <p:sp>
        <p:nvSpPr>
          <p:cNvPr id="4" name="Shape 2"/>
          <p:cNvSpPr/>
          <p:nvPr/>
        </p:nvSpPr>
        <p:spPr>
          <a:xfrm>
            <a:off x="457200" y="1097280"/>
            <a:ext cx="4572000" cy="3474720"/>
          </a:xfrm>
          <a:prstGeom prst="rect">
            <a:avLst/>
          </a:prstGeom>
          <a:solidFill>
            <a:srgbClr val="1E293B"/>
          </a:solidFill>
          <a:ln w="19050">
            <a:solidFill>
              <a:srgbClr val="D97706"/>
            </a:solidFill>
            <a:prstDash val="solid"/>
          </a:ln>
        </p:spPr>
      </p:sp>
      <p:sp>
        <p:nvSpPr>
          <p:cNvPr id="5" name="Text 3"/>
          <p:cNvSpPr/>
          <p:nvPr/>
        </p:nvSpPr>
        <p:spPr>
          <a:xfrm>
            <a:off x="640080" y="1280160"/>
            <a:ext cx="4206240" cy="310896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 DESKTOP PROTOTYPE SHOWCASE
</a:t>
            </a:r>
            <a:endParaRPr lang="en-US" sz="1300" dirty="0"/>
          </a:p>
          <a:p>
            <a:pPr algn="ctr" indent="0" marL="0">
              <a:buNone/>
            </a:pPr>
            <a:r>
              <a:rPr lang="en-US" sz="1200" b="1" dirty="0">
                <a:solidFill>
                  <a:srgbClr val="F1F5F9"/>
                </a:solidFill>
                <a:latin typeface="Arial" pitchFamily="34" charset="0"/>
                <a:ea typeface="Arial" pitchFamily="34" charset="-122"/>
                <a:cs typeface="Arial" pitchFamily="34" charset="-120"/>
              </a:rPr>
              <a:t>[Screenshot Mockup Placeholder]
</a:t>
            </a:r>
            <a:pPr indent="0" marL="0">
              <a:buNone/>
            </a:pPr>
            <a:r>
              <a:rPr lang="en-US" sz="1000" dirty="0">
                <a:solidFill>
                  <a:srgbClr val="94A3B8"/>
                </a:solidFill>
                <a:latin typeface="Arial" pitchFamily="34" charset="0"/>
                <a:ea typeface="Arial" pitchFamily="34" charset="-122"/>
                <a:cs typeface="Arial" pitchFamily="34" charset="-120"/>
              </a:rPr>
              <a:t>Widescreen view of the active combat dashboard showing:
</a:t>
            </a:r>
            <a:pPr indent="0" marL="0">
              <a:buNone/>
            </a:pPr>
            <a:r>
              <a:rPr lang="en-US" sz="1000" dirty="0">
                <a:solidFill>
                  <a:srgbClr val="F1F5F9"/>
                </a:solidFill>
                <a:latin typeface="Arial" pitchFamily="34" charset="0"/>
                <a:ea typeface="Arial" pitchFamily="34" charset="-122"/>
                <a:cs typeface="Arial" pitchFamily="34" charset="-120"/>
              </a:rPr>
              <a:t>• Live Health Gauges flashing on hit
</a:t>
            </a:r>
            <a:pPr indent="0" marL="0">
              <a:buNone/>
            </a:pPr>
            <a:r>
              <a:rPr lang="en-US" sz="1000" dirty="0">
                <a:solidFill>
                  <a:srgbClr val="F1F5F9"/>
                </a:solidFill>
                <a:latin typeface="Arial" pitchFamily="34" charset="0"/>
                <a:ea typeface="Arial" pitchFamily="34" charset="-122"/>
                <a:cs typeface="Arial" pitchFamily="34" charset="-120"/>
              </a:rPr>
              <a:t>• High-contrast combat logs detailing oil modifiers
</a:t>
            </a:r>
            <a:pPr indent="0" marL="0">
              <a:buNone/>
            </a:pPr>
            <a:r>
              <a:rPr lang="en-US" sz="1000" dirty="0">
                <a:solidFill>
                  <a:srgbClr val="F1F5F9"/>
                </a:solidFill>
                <a:latin typeface="Arial" pitchFamily="34" charset="0"/>
                <a:ea typeface="Arial" pitchFamily="34" charset="-122"/>
                <a:cs typeface="Arial" pitchFamily="34" charset="-120"/>
              </a:rPr>
              <a:t>• Custom golden borders matching the Witchers' guild theme
</a:t>
            </a:r>
            <a:pPr indent="0" marL="0">
              <a:buNone/>
            </a:pPr>
            <a:r>
              <a:rPr lang="en-US" sz="1000" dirty="0">
                <a:solidFill>
                  <a:srgbClr val="F1F5F9"/>
                </a:solidFill>
                <a:latin typeface="Arial" pitchFamily="34" charset="0"/>
                <a:ea typeface="Arial" pitchFamily="34" charset="-122"/>
                <a:cs typeface="Arial" pitchFamily="34" charset="-120"/>
              </a:rPr>
              <a:t>• Pop-up combat logs with feedback text notifications</a:t>
            </a:r>
            <a:endParaRPr lang="en-US" sz="1300" dirty="0"/>
          </a:p>
        </p:txBody>
      </p:sp>
      <p:sp>
        <p:nvSpPr>
          <p:cNvPr id="6" name="Text 4"/>
          <p:cNvSpPr/>
          <p:nvPr/>
        </p:nvSpPr>
        <p:spPr>
          <a:xfrm>
            <a:off x="5303520" y="1097280"/>
            <a:ext cx="3383280" cy="3474720"/>
          </a:xfrm>
          <a:prstGeom prst="rect">
            <a:avLst/>
          </a:prstGeom>
          <a:noFill/>
          <a:ln/>
        </p:spPr>
        <p:txBody>
          <a:bodyPr wrap="square" rtlCol="0" anchor="ctr"/>
          <a:lstStyle/>
          <a:p>
            <a:pPr indent="0" marL="0">
              <a:lnSpc>
                <a:spcPts val="1500"/>
              </a:lnSpc>
              <a:buNone/>
            </a:pPr>
            <a:r>
              <a:rPr lang="en-US" sz="1200" b="1" dirty="0">
                <a:solidFill>
                  <a:srgbClr val="F59E0B"/>
                </a:solidFill>
                <a:latin typeface="Arial" pitchFamily="34" charset="0"/>
                <a:ea typeface="Arial" pitchFamily="34" charset="-122"/>
                <a:cs typeface="Arial" pitchFamily="34" charset="-120"/>
              </a:rPr>
              <a:t>Deployment Link (Vercel/Netlify):
</a:t>
            </a:r>
            <a:pPr indent="0" marL="0">
              <a:lnSpc>
                <a:spcPts val="1500"/>
              </a:lnSpc>
              <a:buNone/>
            </a:pPr>
            <a:r>
              <a:rPr lang="en-US" sz="1000" i="1" dirty="0">
                <a:solidFill>
                  <a:srgbClr val="F1F5F9"/>
                </a:solidFill>
                <a:latin typeface="Arial" pitchFamily="34" charset="0"/>
                <a:ea typeface="Arial" pitchFamily="34" charset="-122"/>
                <a:cs typeface="Arial" pitchFamily="34" charset="-120"/>
              </a:rPr>
              <a:t>https://runebreaker-bestiary-ui.vercel.app
</a:t>
            </a:r>
            <a:pPr indent="0" marL="0">
              <a:lnSpc>
                <a:spcPts val="1500"/>
              </a:lnSpc>
              <a:buNone/>
            </a:pPr>
            <a:r>
              <a:rPr lang="en-US" sz="1200" b="1" dirty="0">
                <a:solidFill>
                  <a:srgbClr val="F59E0B"/>
                </a:solidFill>
                <a:latin typeface="Arial" pitchFamily="34" charset="0"/>
                <a:ea typeface="Arial" pitchFamily="34" charset="-122"/>
                <a:cs typeface="Arial" pitchFamily="34" charset="-120"/>
              </a:rPr>
              <a:t>GitHub Source Code Repository:
</a:t>
            </a:r>
            <a:pPr indent="0" marL="0">
              <a:lnSpc>
                <a:spcPts val="1500"/>
              </a:lnSpc>
              <a:buNone/>
            </a:pPr>
            <a:r>
              <a:rPr lang="en-US" sz="1000" i="1" dirty="0">
                <a:solidFill>
                  <a:srgbClr val="F1F5F9"/>
                </a:solidFill>
                <a:latin typeface="Arial" pitchFamily="34" charset="0"/>
                <a:ea typeface="Arial" pitchFamily="34" charset="-122"/>
                <a:cs typeface="Arial" pitchFamily="34" charset="-120"/>
              </a:rPr>
              <a:t>https://github.com/witcher-guild/runebreaker-ui
</a:t>
            </a:r>
            <a:pPr indent="0" marL="0">
              <a:lnSpc>
                <a:spcPts val="1500"/>
              </a:lnSpc>
              <a:buNone/>
            </a:pPr>
            <a:r>
              <a:rPr lang="en-US" sz="1200" b="1" dirty="0">
                <a:solidFill>
                  <a:srgbClr val="F59E0B"/>
                </a:solidFill>
                <a:latin typeface="Arial" pitchFamily="34" charset="0"/>
                <a:ea typeface="Arial" pitchFamily="34" charset="-122"/>
                <a:cs typeface="Arial" pitchFamily="34" charset="-120"/>
              </a:rPr>
              <a:t>Evaluator Instructions:
</a:t>
            </a:r>
            <a:pPr indent="0" marL="0">
              <a:lnSpc>
                <a:spcPts val="1500"/>
              </a:lnSpc>
              <a:buNone/>
            </a:pPr>
            <a:r>
              <a:rPr lang="en-US" sz="1000" dirty="0">
                <a:solidFill>
                  <a:srgbClr val="F1F5F9"/>
                </a:solidFill>
                <a:latin typeface="Arial" pitchFamily="34" charset="0"/>
                <a:ea typeface="Arial" pitchFamily="34" charset="-122"/>
                <a:cs typeface="Arial" pitchFamily="34" charset="-120"/>
              </a:rPr>
              <a:t>1. Open the live deployment link in your desktop browser.
</a:t>
            </a:r>
            <a:pPr indent="0" marL="0">
              <a:lnSpc>
                <a:spcPts val="1500"/>
              </a:lnSpc>
              <a:buNone/>
            </a:pPr>
            <a:r>
              <a:rPr lang="en-US" sz="1000" dirty="0">
                <a:solidFill>
                  <a:srgbClr val="F1F5F9"/>
                </a:solidFill>
                <a:latin typeface="Arial" pitchFamily="34" charset="0"/>
                <a:ea typeface="Arial" pitchFamily="34" charset="-122"/>
                <a:cs typeface="Arial" pitchFamily="34" charset="-120"/>
              </a:rPr>
              <a:t>2. Toggle sound, study swamp weaknesses, and apply necrophage oil/igni.
</a:t>
            </a:r>
            <a:pPr indent="0" marL="0">
              <a:lnSpc>
                <a:spcPts val="1500"/>
              </a:lnSpc>
              <a:buNone/>
            </a:pPr>
            <a:r>
              <a:rPr lang="en-US" sz="1000" dirty="0">
                <a:solidFill>
                  <a:srgbClr val="F1F5F9"/>
                </a:solidFill>
                <a:latin typeface="Arial" pitchFamily="34" charset="0"/>
                <a:ea typeface="Arial" pitchFamily="34" charset="-122"/>
                <a:cs typeface="Arial" pitchFamily="34" charset="-120"/>
              </a:rPr>
              <a:t>3. Press [BEGIN HUNT] and beat the hag before health is depleted.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2026-07-10T19:03:13Z</dcterms:created>
  <dcterms:modified xsi:type="dcterms:W3CDTF">2026-07-10T19:03:13Z</dcterms:modified>
</cp:coreProperties>
</file>